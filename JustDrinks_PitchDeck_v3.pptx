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29.9</c:v>
                </c:pt>
                <c:pt idx="1">
                  <c:v>28.9</c:v>
                </c:pt>
                <c:pt idx="2">
                  <c:v>29</c:v>
                </c:pt>
                <c:pt idx="3">
                  <c:v>30.7</c:v>
                </c:pt>
                <c:pt idx="4">
                  <c:v>36</c:v>
                </c:pt>
                <c:pt idx="5">
                  <c:v>39.3</c:v>
                </c:pt>
                <c:pt idx="6">
                  <c:v>49.7</c:v>
                </c:pt>
                <c:pt idx="7">
                  <c:v>39.1</c:v>
                </c:pt>
                <c:pt idx="8">
                  <c:v>38.5</c:v>
                </c:pt>
                <c:pt idx="9">
                  <c:v>36.4</c:v>
                </c:pt>
                <c:pt idx="10">
                  <c:v>42.3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 ($M)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10.7</c:v>
                </c:pt>
                <c:pt idx="1">
                  <c:v>8.7</c:v>
                </c:pt>
                <c:pt idx="2">
                  <c:v>8.7</c:v>
                </c:pt>
                <c:pt idx="3">
                  <c:v>8.9</c:v>
                </c:pt>
                <c:pt idx="4">
                  <c:v>7.3</c:v>
                </c:pt>
                <c:pt idx="5">
                  <c:v>9.6</c:v>
                </c:pt>
                <c:pt idx="6">
                  <c:v>17.5</c:v>
                </c:pt>
                <c:pt idx="7">
                  <c:v>8.3</c:v>
                </c:pt>
                <c:pt idx="8">
                  <c:v>11.6</c:v>
                </c:pt>
                <c:pt idx="9">
                  <c:v>4.6</c:v>
                </c:pt>
                <c:pt idx="10">
                  <c:v>15.1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Monthly Revenue &amp; Gross Profit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2C3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29.9</c:v>
                </c:pt>
                <c:pt idx="1">
                  <c:v>28.9</c:v>
                </c:pt>
                <c:pt idx="2">
                  <c:v>29</c:v>
                </c:pt>
                <c:pt idx="3">
                  <c:v>30.7</c:v>
                </c:pt>
                <c:pt idx="4">
                  <c:v>36</c:v>
                </c:pt>
                <c:pt idx="5">
                  <c:v>39.3</c:v>
                </c:pt>
                <c:pt idx="6">
                  <c:v>49.7</c:v>
                </c:pt>
                <c:pt idx="7">
                  <c:v>39.1</c:v>
                </c:pt>
                <c:pt idx="8">
                  <c:v>38.5</c:v>
                </c:pt>
                <c:pt idx="9">
                  <c:v>36.4</c:v>
                </c:pt>
                <c:pt idx="10">
                  <c:v>42.3</c:v>
                </c:pt>
                <c:pt idx="11">
                  <c:v>52.3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 ($M)</c:v>
                </c:pt>
              </c:strCache>
            </c:strRef>
          </c:tx>
          <c:spPr>
            <a:solidFill>
              <a:srgbClr val="5B8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10.7</c:v>
                </c:pt>
                <c:pt idx="1">
                  <c:v>8.7</c:v>
                </c:pt>
                <c:pt idx="2">
                  <c:v>8.7</c:v>
                </c:pt>
                <c:pt idx="3">
                  <c:v>8.9</c:v>
                </c:pt>
                <c:pt idx="4">
                  <c:v>7.3</c:v>
                </c:pt>
                <c:pt idx="5">
                  <c:v>9.6</c:v>
                </c:pt>
                <c:pt idx="6">
                  <c:v>17.5</c:v>
                </c:pt>
                <c:pt idx="7">
                  <c:v>8.3</c:v>
                </c:pt>
                <c:pt idx="8">
                  <c:v>11.6</c:v>
                </c:pt>
                <c:pt idx="9">
                  <c:v>4.6</c:v>
                </c:pt>
                <c:pt idx="10">
                  <c:v>15.1</c:v>
                </c:pt>
                <c:pt idx="11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C3E8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A45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CADCF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31A4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B2D26"/>
              </a:solidFill>
              <a:effectLst/>
            </c:spPr>
          </c:dPt>
          <c:dPt>
            <c:idx val="1"/>
            <c:bubble3D val="0"/>
            <c:spPr>
              <a:solidFill>
                <a:srgbClr val="5B8C7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Wine</c:v>
                </c:pt>
                <c:pt idx="1">
                  <c:v>Spirits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290</c:v>
                </c:pt>
                <c:pt idx="1">
                  <c:v>162</c:v>
                </c:pt>
              </c:numCache>
            </c:numRef>
          </c:val>
        </c:ser>
        <c:firstSliceAng val="0"/>
        <c:holeSize val="55"/>
      </c:doughnutChart>
      <c:spPr>
        <a:solidFill>
          <a:srgbClr val="131A4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CADCF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31A4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Stores by Revenue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2C3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S76·Doncaster</c:v>
                  </c:pt>
                  <c:pt idx="1">
                    <c:v>S73·Doncaster</c:v>
                  </c:pt>
                  <c:pt idx="2">
                    <c:v>S34·Pitmerden</c:v>
                  </c:pt>
                  <c:pt idx="3">
                    <c:v>S38·Goulcrest</c:v>
                  </c:pt>
                  <c:pt idx="4">
                    <c:v>S66·Eanverness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25.5</c:v>
                </c:pt>
                <c:pt idx="1">
                  <c:v>21.7</c:v>
                </c:pt>
                <c:pt idx="2">
                  <c:v>20.9</c:v>
                </c:pt>
                <c:pt idx="3">
                  <c:v>19.5</c:v>
                </c:pt>
                <c:pt idx="4">
                  <c:v>17.8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2C3E8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A45"/>
        </a:solidFill>
        <a:ln>
          <a:noFill/>
        </a:ln>
        <a:effectLst/>
      </c:spPr>
    </c:plotArea>
    <c:plotVisOnly val="1"/>
    <c:dispBlanksAs val="span"/>
  </c:chart>
  <c:spPr>
    <a:solidFill>
      <a:srgbClr val="131A4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Sales vs Purchases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2C3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29.9</c:v>
                </c:pt>
                <c:pt idx="1">
                  <c:v>28.9</c:v>
                </c:pt>
                <c:pt idx="2">
                  <c:v>29</c:v>
                </c:pt>
                <c:pt idx="3">
                  <c:v>30.7</c:v>
                </c:pt>
                <c:pt idx="4">
                  <c:v>36</c:v>
                </c:pt>
                <c:pt idx="5">
                  <c:v>39.3</c:v>
                </c:pt>
                <c:pt idx="6">
                  <c:v>49.7</c:v>
                </c:pt>
                <c:pt idx="7">
                  <c:v>39.1</c:v>
                </c:pt>
                <c:pt idx="8">
                  <c:v>38.5</c:v>
                </c:pt>
                <c:pt idx="9">
                  <c:v>36.4</c:v>
                </c:pt>
                <c:pt idx="10">
                  <c:v>42.3</c:v>
                </c:pt>
                <c:pt idx="11">
                  <c:v>52.3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Purchases ($M)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19.1</c:v>
                </c:pt>
                <c:pt idx="1">
                  <c:v>20.1</c:v>
                </c:pt>
                <c:pt idx="2">
                  <c:v>20.3</c:v>
                </c:pt>
                <c:pt idx="3">
                  <c:v>21.8</c:v>
                </c:pt>
                <c:pt idx="4">
                  <c:v>28.7</c:v>
                </c:pt>
                <c:pt idx="5">
                  <c:v>29.7</c:v>
                </c:pt>
                <c:pt idx="6">
                  <c:v>32.2</c:v>
                </c:pt>
                <c:pt idx="7">
                  <c:v>30.7</c:v>
                </c:pt>
                <c:pt idx="8">
                  <c:v>26.8</c:v>
                </c:pt>
                <c:pt idx="9">
                  <c:v>31.8</c:v>
                </c:pt>
                <c:pt idx="10">
                  <c:v>27.3</c:v>
                </c:pt>
                <c:pt idx="11">
                  <c:v>26.3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2C3E8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A45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
              <a:solidFill>
                <a:srgbClr val="CADCF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31A45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Monthly Revenue &amp; Gross Profit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29.9</c:v>
                </c:pt>
                <c:pt idx="1">
                  <c:v>28.9</c:v>
                </c:pt>
                <c:pt idx="2">
                  <c:v>29</c:v>
                </c:pt>
                <c:pt idx="3">
                  <c:v>30.7</c:v>
                </c:pt>
                <c:pt idx="4">
                  <c:v>36</c:v>
                </c:pt>
                <c:pt idx="5">
                  <c:v>39.3</c:v>
                </c:pt>
                <c:pt idx="6">
                  <c:v>49.7</c:v>
                </c:pt>
                <c:pt idx="7">
                  <c:v>39.1</c:v>
                </c:pt>
                <c:pt idx="8">
                  <c:v>38.5</c:v>
                </c:pt>
                <c:pt idx="9">
                  <c:v>36.4</c:v>
                </c:pt>
                <c:pt idx="10">
                  <c:v>42.3</c:v>
                </c:pt>
                <c:pt idx="11">
                  <c:v>52.3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 ($M)</c:v>
                </c:pt>
              </c:strCache>
            </c:strRef>
          </c:tx>
          <c:spPr>
            <a:solidFill>
              <a:srgbClr val="5B8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10.7</c:v>
                </c:pt>
                <c:pt idx="1">
                  <c:v>8.7</c:v>
                </c:pt>
                <c:pt idx="2">
                  <c:v>8.7</c:v>
                </c:pt>
                <c:pt idx="3">
                  <c:v>8.9</c:v>
                </c:pt>
                <c:pt idx="4">
                  <c:v>7.3</c:v>
                </c:pt>
                <c:pt idx="5">
                  <c:v>9.6</c:v>
                </c:pt>
                <c:pt idx="6">
                  <c:v>17.5</c:v>
                </c:pt>
                <c:pt idx="7">
                  <c:v>8.3</c:v>
                </c:pt>
                <c:pt idx="8">
                  <c:v>11.6</c:v>
                </c:pt>
                <c:pt idx="9">
                  <c:v>4.6</c:v>
                </c:pt>
                <c:pt idx="10">
                  <c:v>15.1</c:v>
                </c:pt>
                <c:pt idx="11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B2D26"/>
              </a:solidFill>
              <a:effectLst/>
            </c:spPr>
          </c:dPt>
          <c:dPt>
            <c:idx val="1"/>
            <c:bubble3D val="0"/>
            <c:spPr>
              <a:solidFill>
                <a:srgbClr val="5B8C7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Wine</c:v>
                </c:pt>
                <c:pt idx="1">
                  <c:v>Spirits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290</c:v>
                </c:pt>
                <c:pt idx="1">
                  <c:v>162</c:v>
                </c:pt>
              </c:numCache>
            </c:numRef>
          </c:val>
        </c:ser>
        <c:firstSliceAng val="0"/>
        <c:holeSize val="50"/>
      </c:doughnutChart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file:///C:/Users/Sango/Downloads/JustDrinks_Dashboard_1.html" TargetMode="External"/><Relationship Id="rId3" Type="http://schemas.openxmlformats.org/officeDocument/2006/relationships/hyperlink" Target="https://app.powerbi.com/links/YR9nMdbf1D?ctid=74283479-689a-49e8-9a3b-d4098db086cb&amp;pbi_source=linkShare" TargetMode="External"/><Relationship Id="rId4" Type="http://schemas.openxmlformats.org/officeDocument/2006/relationships/hyperlink" Target="https://github.com/bihbrandysango-cloud/justdrinks-ltd-analysis" TargetMode="External"/><Relationship Id="rId1" Type="http://schemas.openxmlformats.org/officeDocument/2006/relationships/image" Target="../media/image-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pp.powerbi.com/links/YR9nMdbf1D?ctid=74283479-689a-49e8-9a3b-d4098db086cb&amp;pbi_source=linkShare" TargetMode="External"/><Relationship Id="rId11" Type="http://schemas.openxmlformats.org/officeDocument/2006/relationships/hyperlink" Target="https://app.powerbi.com/links/YR9nMdbf1D?ctid=74283479-689a-49e8-9a3b-d4098db086cb&amp;pbi_source=linkShare" TargetMode="Externa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image" Target="../media/image-10-1.png"/><Relationship Id="rId7" Type="http://schemas.openxmlformats.org/officeDocument/2006/relationships/image" Target="../media/image-10-2.png"/><Relationship Id="rId8" Type="http://schemas.openxmlformats.org/officeDocument/2006/relationships/image" Target="../media/image-10-3.png"/><Relationship Id="rId9" Type="http://schemas.openxmlformats.org/officeDocument/2006/relationships/image" Target="../media/image-10-4.png"/><Relationship Id="rId10" Type="http://schemas.openxmlformats.org/officeDocument/2006/relationships/image" Target="../media/image-1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file:///C:/Users/Sango/Downloads/JustDrinks_Dashboard_1.html" TargetMode="External"/><Relationship Id="rId9" Type="http://schemas.openxmlformats.org/officeDocument/2006/relationships/hyperlink" Target="file:///C:/Users/Sango/Downloads/JustDrinks_Dashboard_1.html" TargetMode="Externa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image" Target="../media/image-11-1.png"/><Relationship Id="rId5" Type="http://schemas.openxmlformats.org/officeDocument/2006/relationships/image" Target="../media/image-11-2.png"/><Relationship Id="rId6" Type="http://schemas.openxmlformats.org/officeDocument/2006/relationships/image" Target="../media/image-11-3.png"/><Relationship Id="rId7" Type="http://schemas.openxmlformats.org/officeDocument/2006/relationships/image" Target="../media/image-11-4.png"/><Relationship Id="rId8" Type="http://schemas.openxmlformats.org/officeDocument/2006/relationships/image" Target="../media/image-11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app.powerbi.com/links/YR9nMdbf1D?ctid=74283479-689a-49e8-9a3b-d4098db086cb&amp;pbi_source=linkShare" TargetMode="External"/><Relationship Id="rId2" Type="http://schemas.openxmlformats.org/officeDocument/2006/relationships/hyperlink" Target="file:///C:/Users/Sango/Downloads/JustDrinks_Dashboard_1.html" TargetMode="External"/><Relationship Id="rId3" Type="http://schemas.openxmlformats.org/officeDocument/2006/relationships/hyperlink" Target="https://github.com/bihbrandysango-cloud/justdrinks-ltd-analysis" TargetMode="External"/><Relationship Id="rId4" Type="http://schemas.openxmlformats.org/officeDocument/2006/relationships/image" Target="../media/image-13-1.png"/><Relationship Id="rId5" Type="http://schemas.openxmlformats.org/officeDocument/2006/relationships/image" Target="../media/image-13-2.png"/><Relationship Id="rId6" Type="http://schemas.openxmlformats.org/officeDocument/2006/relationships/image" Target="../media/image-13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54864" cy="685800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87552"/>
            <a:ext cx="4251960" cy="2286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4023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JUSTDRINKS LTD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4389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 Retail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02920" y="1792224"/>
            <a:ext cx="4389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02920" y="2468880"/>
            <a:ext cx="4389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02920" y="333756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BI solution built from scratch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model · Web dashboard · FY 2016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4251960"/>
            <a:ext cx="987552" cy="24688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4251960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1581912" y="4251960"/>
            <a:ext cx="987552" cy="24688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81912" y="4251960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2660904" y="4251960"/>
            <a:ext cx="987552" cy="24688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60904" y="4251960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3739896" y="4251960"/>
            <a:ext cx="987552" cy="24688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39896" y="4251960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502920" y="4709160"/>
            <a:ext cx="4251960" cy="1828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" y="4901184"/>
            <a:ext cx="100584" cy="100584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3232" y="484632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Bih Brandy Sango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02920" y="51663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Analytics Project  ·  May 2026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02920" y="5596128"/>
            <a:ext cx="2011680" cy="25603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4" name="Text 21">
            <a:hlinkClick r:id="rId2" tooltip=""/>
          </p:cNvPr>
          <p:cNvSpPr/>
          <p:nvPr/>
        </p:nvSpPr>
        <p:spPr>
          <a:xfrm>
            <a:off x="502920" y="5596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Open Web App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606040" y="5596128"/>
            <a:ext cx="2103120" cy="256032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6" name="Text 23">
            <a:hlinkClick r:id="rId3" tooltip=""/>
          </p:cNvPr>
          <p:cNvSpPr/>
          <p:nvPr/>
        </p:nvSpPr>
        <p:spPr>
          <a:xfrm>
            <a:off x="2606040" y="55961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📊  Open Power BI</a:t>
            </a:r>
            <a:endParaRPr lang="en-US" sz="900" dirty="0"/>
          </a:p>
        </p:txBody>
      </p:sp>
      <p:sp>
        <p:nvSpPr>
          <p:cNvPr id="27" name="Text 24">
            <a:hlinkClick r:id="rId4" tooltip=""/>
          </p:cNvPr>
          <p:cNvSpPr/>
          <p:nvPr/>
        </p:nvSpPr>
        <p:spPr>
          <a:xfrm>
            <a:off x="502920" y="6446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https://github.com/bihbrandysango-cloud/justdrinks-ltd-analysis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349240" y="347472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2016  AT A GLANCE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349240" y="8686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$452M</a:t>
            </a:r>
            <a:endParaRPr lang="en-US" sz="5800" dirty="0"/>
          </a:p>
        </p:txBody>
      </p:sp>
      <p:sp>
        <p:nvSpPr>
          <p:cNvPr id="30" name="Text 27"/>
          <p:cNvSpPr/>
          <p:nvPr/>
        </p:nvSpPr>
        <p:spPr>
          <a:xfrm>
            <a:off x="5349240" y="1673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349240" y="19385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Full-year 2016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349240" y="2139696"/>
            <a:ext cx="6583680" cy="13716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49240" y="2304288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5800" dirty="0"/>
          </a:p>
        </p:txBody>
      </p:sp>
      <p:sp>
        <p:nvSpPr>
          <p:cNvPr id="34" name="Text 31"/>
          <p:cNvSpPr/>
          <p:nvPr/>
        </p:nvSpPr>
        <p:spPr>
          <a:xfrm>
            <a:off x="534924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Nationwide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5349240" y="337413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68 UK cities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349240" y="3575304"/>
            <a:ext cx="6583680" cy="13716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49240" y="3739896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28.8%</a:t>
            </a:r>
            <a:endParaRPr lang="en-US" sz="5800" dirty="0"/>
          </a:p>
        </p:txBody>
      </p:sp>
      <p:sp>
        <p:nvSpPr>
          <p:cNvPr id="38" name="Text 35"/>
          <p:cNvSpPr/>
          <p:nvPr/>
        </p:nvSpPr>
        <p:spPr>
          <a:xfrm>
            <a:off x="5349240" y="4544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Margin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5349240" y="48097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$130M gross profit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349240" y="5010912"/>
            <a:ext cx="6583680" cy="13716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49240" y="5175504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12,261</a:t>
            </a:r>
            <a:endParaRPr lang="en-US" sz="5800" dirty="0"/>
          </a:p>
        </p:txBody>
      </p:sp>
      <p:sp>
        <p:nvSpPr>
          <p:cNvPr id="42" name="Text 39"/>
          <p:cNvSpPr/>
          <p:nvPr/>
        </p:nvSpPr>
        <p:spPr>
          <a:xfrm>
            <a:off x="5349240" y="59801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in Range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5349240" y="62453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&amp; Spirits portfolio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35661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609344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99032" y="16093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99032" y="19842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JustDrinks LTD at a glance</a:t>
            </a:r>
            <a:endParaRPr lang="en-US" sz="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1608" y="1828800"/>
            <a:ext cx="256032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97680" y="1481328"/>
            <a:ext cx="35661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462272" y="1609344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102352" y="16093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102352" y="19842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challenges needing a data solution</a:t>
            </a:r>
            <a:endParaRPr lang="en-US" sz="9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28" y="1828800"/>
            <a:ext cx="256032" cy="256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01000" y="1481328"/>
            <a:ext cx="35661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165592" y="1609344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8805672" y="16093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805672" y="19842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from scratch</a:t>
            </a:r>
            <a:endParaRPr lang="en-US" sz="9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8248" y="1828800"/>
            <a:ext cx="256032" cy="25603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94360" y="2926080"/>
            <a:ext cx="35661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2A6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4360" y="2926080"/>
            <a:ext cx="3566160" cy="457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58952" y="3054096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1399032" y="305409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Schema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399032" y="3429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· 15 tables · 25 relationships</a:t>
            </a:r>
            <a:endParaRPr lang="en-US" sz="9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608" y="3273552"/>
            <a:ext cx="256032" cy="25603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4297680" y="2926080"/>
            <a:ext cx="35661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2A6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297680" y="2926080"/>
            <a:ext cx="3566160" cy="457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462272" y="3054096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Text 22"/>
          <p:cNvSpPr/>
          <p:nvPr/>
        </p:nvSpPr>
        <p:spPr>
          <a:xfrm>
            <a:off x="5102352" y="305409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102352" y="3429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measures across 7 display folders</a:t>
            </a:r>
            <a:endParaRPr lang="en-US" sz="9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3273552"/>
            <a:ext cx="256032" cy="256032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8001000" y="2926080"/>
            <a:ext cx="35661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25"/>
          <p:cNvSpPr/>
          <p:nvPr/>
        </p:nvSpPr>
        <p:spPr>
          <a:xfrm>
            <a:off x="8165592" y="3054096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33" name="Text 26"/>
          <p:cNvSpPr/>
          <p:nvPr/>
        </p:nvSpPr>
        <p:spPr>
          <a:xfrm>
            <a:off x="8805672" y="305409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8805672" y="3429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profit, inventory insights</a:t>
            </a:r>
            <a:endParaRPr lang="en-US" sz="95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8248" y="3273552"/>
            <a:ext cx="256032" cy="256032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594360" y="4370832"/>
            <a:ext cx="35661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2A6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594360" y="4370832"/>
            <a:ext cx="3566160" cy="457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758952" y="4498848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39" name="Text 31"/>
          <p:cNvSpPr/>
          <p:nvPr/>
        </p:nvSpPr>
        <p:spPr>
          <a:xfrm>
            <a:off x="1399032" y="44988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1399032" y="48737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report — click to open</a:t>
            </a:r>
            <a:endParaRPr lang="en-US" sz="95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1608" y="4718304"/>
            <a:ext cx="256032" cy="256032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4297680" y="4370832"/>
            <a:ext cx="35661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2A6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4297680" y="4370832"/>
            <a:ext cx="3566160" cy="457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4462272" y="4498848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45" name="Text 36"/>
          <p:cNvSpPr/>
          <p:nvPr/>
        </p:nvSpPr>
        <p:spPr>
          <a:xfrm>
            <a:off x="5102352" y="44988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Analytics App</a:t>
            </a:r>
            <a:endParaRPr lang="en-US" sz="1300" dirty="0"/>
          </a:p>
        </p:txBody>
      </p:sp>
      <p:sp>
        <p:nvSpPr>
          <p:cNvPr id="46" name="Text 37"/>
          <p:cNvSpPr/>
          <p:nvPr/>
        </p:nvSpPr>
        <p:spPr>
          <a:xfrm>
            <a:off x="5102352" y="48737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live link</a:t>
            </a:r>
            <a:endParaRPr lang="en-US" sz="950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4928" y="4718304"/>
            <a:ext cx="256032" cy="256032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8001000" y="4370832"/>
            <a:ext cx="35661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9" name="Text 39"/>
          <p:cNvSpPr/>
          <p:nvPr/>
        </p:nvSpPr>
        <p:spPr>
          <a:xfrm>
            <a:off x="8165592" y="4498848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800" dirty="0"/>
          </a:p>
        </p:txBody>
      </p:sp>
      <p:sp>
        <p:nvSpPr>
          <p:cNvPr id="50" name="Text 40"/>
          <p:cNvSpPr/>
          <p:nvPr/>
        </p:nvSpPr>
        <p:spPr>
          <a:xfrm>
            <a:off x="8805672" y="44988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51" name="Text 41"/>
          <p:cNvSpPr/>
          <p:nvPr/>
        </p:nvSpPr>
        <p:spPr>
          <a:xfrm>
            <a:off x="8805672" y="48737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actions to grow JustDrinks</a:t>
            </a:r>
            <a:endParaRPr lang="en-US" sz="950" dirty="0"/>
          </a:p>
        </p:txBody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28248" y="4718304"/>
            <a:ext cx="256032" cy="256032"/>
          </a:xfrm>
          <a:prstGeom prst="rect">
            <a:avLst/>
          </a:prstGeom>
        </p:spPr>
      </p:pic>
      <p:sp>
        <p:nvSpPr>
          <p:cNvPr id="53" name="Shape 42"/>
          <p:cNvSpPr/>
          <p:nvPr/>
        </p:nvSpPr>
        <p:spPr>
          <a:xfrm>
            <a:off x="10378440" y="384048"/>
            <a:ext cx="1188720" cy="25603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4" name="Text 43"/>
          <p:cNvSpPr/>
          <p:nvPr/>
        </p:nvSpPr>
        <p:spPr>
          <a:xfrm>
            <a:off x="10378440" y="3840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 New Slides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and what we built to solve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444752"/>
            <a:ext cx="53035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44752"/>
            <a:ext cx="530352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99339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JustDrinks LTD was generating over $452M in revenue across 80 stores — but leadership had no clear picture of how the business was actually performing.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907792"/>
            <a:ext cx="4937760" cy="960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9809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stores are making money?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1832" y="327355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compare — every report was built manually from spreadsheets.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4005072"/>
            <a:ext cx="4937760" cy="960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40782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October feel like a good month?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41832" y="437083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wasn't. Margin collapsed to 12.6% — the worst of the year. Nobody caught it in time.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5102352"/>
            <a:ext cx="4937760" cy="960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51755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too reliant on one supplier?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1832" y="546811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One supplier accounts for 15.8% of all purchases. A single disruption hits every store.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6199632"/>
            <a:ext cx="4937760" cy="960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627278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should we push harder?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41832" y="656539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Unknown. No single view of what was selling, what was sitting, or what drove profit.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1444752"/>
            <a:ext cx="53949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444752"/>
            <a:ext cx="5394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5727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Solution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199339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single source of truth for JustDrinks LTD — one place where any manager or executive gets an instant, accurate, live view of the business.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2907792"/>
            <a:ext cx="5029200" cy="9601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3182112"/>
            <a:ext cx="320040" cy="320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885432" y="29809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 a dashboard. You see everything.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85432" y="331012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profit, margin, best stores, best products — all on one screen. No waiting.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355080" y="4005072"/>
            <a:ext cx="5029200" cy="9601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279392"/>
            <a:ext cx="320040" cy="32004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885432" y="40782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 answered in seconds.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885432" y="44074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month, store or category and every number updates instantly to match.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6355080" y="5102352"/>
            <a:ext cx="5029200" cy="9601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5376672"/>
            <a:ext cx="320040" cy="32004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885432" y="51755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numbers, not gut feel.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885432" y="55046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$452M revenue · $130M profit · Dec 2016 best month · Oct the biggest margin risk.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355080" y="6199632"/>
            <a:ext cx="5029200" cy="9601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6473952"/>
            <a:ext cx="320040" cy="32004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885432" y="627278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the whole team, anytime.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6885432" y="66019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online and as a local app. Open it on any device — no spreadsheets needed.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JustDrinks LTD?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2606040" cy="210312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06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3364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Stores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737360"/>
            <a:ext cx="2606040" cy="210312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0116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606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4400" dirty="0"/>
          </a:p>
        </p:txBody>
      </p:sp>
      <p:sp>
        <p:nvSpPr>
          <p:cNvPr id="12" name="Text 8"/>
          <p:cNvSpPr/>
          <p:nvPr/>
        </p:nvSpPr>
        <p:spPr>
          <a:xfrm>
            <a:off x="3566160" y="3364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63640" y="1737360"/>
            <a:ext cx="2606040" cy="210312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0116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0" y="2606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12,261</a:t>
            </a:r>
            <a:endParaRPr lang="en-US" sz="4400" dirty="0"/>
          </a:p>
        </p:txBody>
      </p:sp>
      <p:sp>
        <p:nvSpPr>
          <p:cNvPr id="16" name="Text 11"/>
          <p:cNvSpPr/>
          <p:nvPr/>
        </p:nvSpPr>
        <p:spPr>
          <a:xfrm>
            <a:off x="6400800" y="3364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9098280" y="1737360"/>
            <a:ext cx="2606040" cy="210312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0116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35440" y="2606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32.9M</a:t>
            </a:r>
            <a:endParaRPr lang="en-US" sz="4400" dirty="0"/>
          </a:p>
        </p:txBody>
      </p:sp>
      <p:sp>
        <p:nvSpPr>
          <p:cNvPr id="20" name="Text 14"/>
          <p:cNvSpPr/>
          <p:nvPr/>
        </p:nvSpPr>
        <p:spPr>
          <a:xfrm>
            <a:off x="9235440" y="3364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FY16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94360" y="41605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JustDrinks LTD is a multi-store UK beverage retailer specialising in Wine and Spirits.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delivers a complete data-driven view of FY 2016 performance — from raw source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through to a live Power BI model and interactive web dashboard.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challenges were we solving?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3949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08760"/>
            <a:ext cx="53949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74650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099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Data Model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5528" y="2194560"/>
            <a:ext cx="50109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purchasing, and inventory data lived in separate flat files with no dimensional structure, duplicated columns, and no shared date dimension.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3949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1508760"/>
            <a:ext cx="53949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74650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7099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Measures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19088" y="2194560"/>
            <a:ext cx="50109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duplicate DAX measures produced conflicting results. Visuals showed the same grand total regardless of filters — cross-filtering was broken.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4360" y="3886200"/>
            <a:ext cx="53949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4360" y="3886200"/>
            <a:ext cx="53949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12394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40873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Performance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95528" y="4572000"/>
            <a:ext cx="50109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Shelf-time calculations timed out. 9 auto-generated LocalDateTable_* files added overhead and blocked proper time intelligence.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886200"/>
            <a:ext cx="53949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17920" y="3886200"/>
            <a:ext cx="53949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412394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40873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Store-Level Insight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19088" y="4572000"/>
            <a:ext cx="50109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DimStore dimension, every table showing data by city or store returned the same value for every row — filters had no effect.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OUR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from scratch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3493008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08760"/>
            <a:ext cx="3493008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1709928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709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5528" y="23134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Data Model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95528" y="29260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dimensions: Date (Power Query M), DimStore, DimProduct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fact tables · 13 active relationships · 25 total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DAX measures in 7 display folders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_ShelfTimeHelper: 50× performance gain on shelf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508760"/>
            <a:ext cx="3493008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508760"/>
            <a:ext cx="3493008" cy="64008"/>
          </a:xfrm>
          <a:prstGeom prst="rect">
            <a:avLst/>
          </a:prstGeom>
          <a:solidFill>
            <a:srgbClr val="5B8C7E"/>
          </a:solidFill>
          <a:ln w="12700">
            <a:solidFill>
              <a:srgbClr val="5B8C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8848" y="1709928"/>
            <a:ext cx="475488" cy="475488"/>
          </a:xfrm>
          <a:prstGeom prst="ellipse">
            <a:avLst/>
          </a:prstGeom>
          <a:solidFill>
            <a:srgbClr val="5B8C7E"/>
          </a:solidFill>
          <a:ln w="12700">
            <a:solidFill>
              <a:srgbClr val="5B8C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8848" y="1709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98848" y="23134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498848" y="29260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JustDrinks brand theme (navy, amber, sage)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Overview: 6 KPIs + 7 interactive charts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Cross-filtering, conditional formatting, dynamic title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Power BI Service — shareable link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01000" y="1508760"/>
            <a:ext cx="3493008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01000" y="1508760"/>
            <a:ext cx="3493008" cy="64008"/>
          </a:xfrm>
          <a:prstGeom prst="rect">
            <a:avLst/>
          </a:prstGeom>
          <a:solidFill>
            <a:srgbClr val="7B2D26"/>
          </a:solidFill>
          <a:ln w="12700">
            <a:solidFill>
              <a:srgbClr val="7B2D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02168" y="1709928"/>
            <a:ext cx="475488" cy="475488"/>
          </a:xfrm>
          <a:prstGeom prst="ellipse">
            <a:avLst/>
          </a:prstGeom>
          <a:solidFill>
            <a:srgbClr val="7B2D26"/>
          </a:solidFill>
          <a:ln w="12700">
            <a:solidFill>
              <a:srgbClr val="7B2D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02168" y="1709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02168" y="23134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Analytics App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02168" y="29260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 — runs in any browser, no install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pages: Dashboard · Add Transaction · Settings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BI-style cross-filtering, dark mode, CSV export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persistence — transactions survive refresh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DATA MODEL &amp; SCHEMA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built from live Power BI model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121408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8132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807208" y="1417320"/>
            <a:ext cx="2121408" cy="82296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07208" y="148132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807208" y="192024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0056" y="1417320"/>
            <a:ext cx="2121408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0056" y="148132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20056" y="192024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32904" y="1417320"/>
            <a:ext cx="2121408" cy="822960"/>
          </a:xfrm>
          <a:prstGeom prst="rect">
            <a:avLst/>
          </a:prstGeom>
          <a:solidFill>
            <a:srgbClr val="5B8C7E"/>
          </a:solidFill>
          <a:ln w="12700">
            <a:solidFill>
              <a:srgbClr val="5B8C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2904" y="148132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232904" y="192024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445752" y="1417320"/>
            <a:ext cx="2121408" cy="822960"/>
          </a:xfrm>
          <a:prstGeom prst="rect">
            <a:avLst/>
          </a:prstGeom>
          <a:solidFill>
            <a:srgbClr val="7B2D26"/>
          </a:solidFill>
          <a:ln w="12700">
            <a:solidFill>
              <a:srgbClr val="7B2D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45752" y="148132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445752" y="192024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0" y="3794760"/>
            <a:ext cx="18288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2017PurchasePricesDec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840480" y="4096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DimProduct (Brand, Size, Price)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931920" y="2514600"/>
            <a:ext cx="1645920" cy="566928"/>
          </a:xfrm>
          <a:prstGeom prst="rect">
            <a:avLst/>
          </a:prstGeom>
          <a:solidFill>
            <a:srgbClr val="5B8C7E"/>
          </a:solidFill>
          <a:ln w="12700">
            <a:solidFill>
              <a:srgbClr val="5B8C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2514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31920" y="2788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M-based · 2015–2017 · 12 cols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754880" y="3090672"/>
            <a:ext cx="0" cy="704088"/>
          </a:xfrm>
          <a:prstGeom prst="line">
            <a:avLst/>
          </a:prstGeom>
          <a:noFill/>
          <a:ln w="19050">
            <a:solidFill>
              <a:srgbClr val="5B8C7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3831336"/>
            <a:ext cx="1554480" cy="566928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38313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DimStore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71600" y="4114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stores · 68 cities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926080" y="4114800"/>
            <a:ext cx="731520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0" y="2788920"/>
            <a:ext cx="2011680" cy="50292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2807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SalesFINAL12312016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949440" y="30449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12.8M rows · Sales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6949440" y="3749040"/>
            <a:ext cx="2011680" cy="50292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3767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PurchasesFINAL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949440" y="4005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2.4M rows · Purchases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6949440" y="4663440"/>
            <a:ext cx="2011680" cy="50292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4681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InvoicePurchases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949440" y="49194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~5K rows · Invoices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931920" y="5257800"/>
            <a:ext cx="2011680" cy="50292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0" y="5276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BegInvFINAL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931920" y="55138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~200K rows · Beg Inv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5760720" y="5257800"/>
            <a:ext cx="2011680" cy="50292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5276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EndInvFINAL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760720" y="55138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~200K rows · End Inv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1371600" y="5257800"/>
            <a:ext cx="2011680" cy="5029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71600" y="5276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_ShelfTimeHelper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371600" y="55138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241K rows · Helper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5669280" y="3044952"/>
            <a:ext cx="1280160" cy="0"/>
          </a:xfrm>
          <a:prstGeom prst="line">
            <a:avLst/>
          </a:prstGeom>
          <a:noFill/>
          <a:ln w="12700">
            <a:solidFill>
              <a:srgbClr val="2C3E8C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5669280" y="4005072"/>
            <a:ext cx="1280160" cy="0"/>
          </a:xfrm>
          <a:prstGeom prst="line">
            <a:avLst/>
          </a:prstGeom>
          <a:noFill/>
          <a:ln w="12700">
            <a:solidFill>
              <a:srgbClr val="2C3E8C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5669280" y="4910328"/>
            <a:ext cx="1280160" cy="0"/>
          </a:xfrm>
          <a:prstGeom prst="line">
            <a:avLst/>
          </a:prstGeom>
          <a:noFill/>
          <a:ln w="12700">
            <a:solidFill>
              <a:srgbClr val="2C3E8C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4754880" y="4434840"/>
            <a:ext cx="0" cy="822960"/>
          </a:xfrm>
          <a:prstGeom prst="line">
            <a:avLst/>
          </a:prstGeom>
          <a:noFill/>
          <a:ln w="12700">
            <a:solidFill>
              <a:srgbClr val="2C3E8C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4754880" y="4434840"/>
            <a:ext cx="0" cy="822960"/>
          </a:xfrm>
          <a:prstGeom prst="line">
            <a:avLst/>
          </a:prstGeom>
          <a:noFill/>
          <a:ln w="12700">
            <a:solidFill>
              <a:srgbClr val="2C3E8C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594360" y="6492240"/>
            <a:ext cx="201168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0392" y="64922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514600" y="6492240"/>
            <a:ext cx="201168" cy="20116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70632" y="64922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434840" y="6492240"/>
            <a:ext cx="201168" cy="201168"/>
          </a:xfrm>
          <a:prstGeom prst="rect">
            <a:avLst/>
          </a:prstGeom>
          <a:solidFill>
            <a:srgbClr val="5B8C7E"/>
          </a:solidFill>
          <a:ln w="12700">
            <a:solidFill>
              <a:srgbClr val="5B8C7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90872" y="64922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(M)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355080" y="6492240"/>
            <a:ext cx="201168" cy="201168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11112" y="64922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DimStore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275320" y="6492240"/>
            <a:ext cx="201168" cy="20116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31352" y="64922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DAX MEASURES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measures · 7 display folders · All with format strings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6746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17320"/>
            <a:ext cx="267462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28900" y="1527048"/>
            <a:ext cx="548640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28900" y="15270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527048"/>
            <a:ext cx="18516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Sales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04088" y="1920240"/>
            <a:ext cx="242773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938528"/>
            <a:ext cx="2327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($)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04088" y="2258568"/>
            <a:ext cx="242773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276856"/>
            <a:ext cx="2327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 Sold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04088" y="2596896"/>
            <a:ext cx="242773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615184"/>
            <a:ext cx="2327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Selling Price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04088" y="2935224"/>
            <a:ext cx="242773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953512"/>
            <a:ext cx="2327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Sales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04088" y="3273552"/>
            <a:ext cx="242773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3291840"/>
            <a:ext cx="2327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 Sales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58952" y="3593592"/>
            <a:ext cx="23271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more...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60420" y="1417320"/>
            <a:ext cx="26746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60420" y="1417320"/>
            <a:ext cx="2674620" cy="54864"/>
          </a:xfrm>
          <a:prstGeom prst="rect">
            <a:avLst/>
          </a:prstGeom>
          <a:solidFill>
            <a:srgbClr val="5B8C7E"/>
          </a:solidFill>
          <a:ln w="12700">
            <a:solidFill>
              <a:srgbClr val="5B8C7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1527048"/>
            <a:ext cx="548640" cy="237744"/>
          </a:xfrm>
          <a:prstGeom prst="rect">
            <a:avLst/>
          </a:prstGeom>
          <a:solidFill>
            <a:srgbClr val="5B8C7E"/>
          </a:solidFill>
          <a:ln w="12700">
            <a:solidFill>
              <a:srgbClr val="5B8C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15270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97580" y="1527048"/>
            <a:ext cx="18516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Purchases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0148" y="1920240"/>
            <a:ext cx="242773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5012" y="1938528"/>
            <a:ext cx="2327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 ($)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70148" y="2258568"/>
            <a:ext cx="242773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5012" y="2276856"/>
            <a:ext cx="2327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Purchased Qty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70148" y="2596896"/>
            <a:ext cx="242773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5012" y="2615184"/>
            <a:ext cx="2327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Count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70148" y="2935224"/>
            <a:ext cx="242773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5012" y="2953512"/>
            <a:ext cx="2327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 per PO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70148" y="3273552"/>
            <a:ext cx="242773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5012" y="3291840"/>
            <a:ext cx="2327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Purchase ($)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525012" y="3593592"/>
            <a:ext cx="23271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more...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26480" y="1417320"/>
            <a:ext cx="26746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1417320"/>
            <a:ext cx="2674620" cy="54864"/>
          </a:xfrm>
          <a:prstGeom prst="rect">
            <a:avLst/>
          </a:prstGeom>
          <a:solidFill>
            <a:srgbClr val="7B2D26"/>
          </a:solidFill>
          <a:ln w="12700">
            <a:solidFill>
              <a:srgbClr val="7B2D2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61020" y="1527048"/>
            <a:ext cx="548640" cy="237744"/>
          </a:xfrm>
          <a:prstGeom prst="rect">
            <a:avLst/>
          </a:prstGeom>
          <a:solidFill>
            <a:srgbClr val="7B2D26"/>
          </a:solidFill>
          <a:ln w="12700">
            <a:solidFill>
              <a:srgbClr val="7B2D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61020" y="15270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640" y="1527048"/>
            <a:ext cx="18516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Inventory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36208" y="1920240"/>
            <a:ext cx="242773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91072" y="1938528"/>
            <a:ext cx="2327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AvgInv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36208" y="2258568"/>
            <a:ext cx="242773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91072" y="2276856"/>
            <a:ext cx="2327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AvgInv Value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36208" y="2596896"/>
            <a:ext cx="242773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1072" y="2615184"/>
            <a:ext cx="2327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Turnover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36208" y="2935224"/>
            <a:ext cx="242773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1072" y="2953512"/>
            <a:ext cx="2327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Turnover Value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36208" y="3273552"/>
            <a:ext cx="242773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1072" y="3291840"/>
            <a:ext cx="2327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Stock Change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291072" y="3593592"/>
            <a:ext cx="23271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more...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892540" y="1417320"/>
            <a:ext cx="26746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892540" y="1417320"/>
            <a:ext cx="26746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927080" y="1527048"/>
            <a:ext cx="54864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927080" y="15270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029700" y="1527048"/>
            <a:ext cx="18516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Profitability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002268" y="1920240"/>
            <a:ext cx="242773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057132" y="1938528"/>
            <a:ext cx="2327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COGS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002268" y="2258568"/>
            <a:ext cx="242773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57132" y="2276856"/>
            <a:ext cx="2327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002268" y="2596896"/>
            <a:ext cx="242773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057132" y="2615184"/>
            <a:ext cx="2327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Margin (%)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9002268" y="2935224"/>
            <a:ext cx="242773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057132" y="2953512"/>
            <a:ext cx="2327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Margin Status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9002268" y="3273552"/>
            <a:ext cx="242773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057132" y="3291840"/>
            <a:ext cx="2327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94360" y="3977640"/>
            <a:ext cx="35966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594360" y="3977640"/>
            <a:ext cx="35966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550920" y="4087368"/>
            <a:ext cx="54864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550920" y="40873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731520" y="4087368"/>
            <a:ext cx="277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Time Intelligence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704088" y="4480560"/>
            <a:ext cx="334975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8952" y="4498848"/>
            <a:ext cx="3249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YTD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04088" y="4818888"/>
            <a:ext cx="334975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8952" y="4837176"/>
            <a:ext cx="3249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PY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04088" y="5157216"/>
            <a:ext cx="334975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8952" y="5175504"/>
            <a:ext cx="3249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YoY $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704088" y="5495544"/>
            <a:ext cx="334975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58952" y="5513832"/>
            <a:ext cx="3249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YoY %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704088" y="5833872"/>
            <a:ext cx="334975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58952" y="5852160"/>
            <a:ext cx="3249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 %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282440" y="3977640"/>
            <a:ext cx="35966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4282440" y="3977640"/>
            <a:ext cx="3596640" cy="54864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239000" y="4087368"/>
            <a:ext cx="548640" cy="237744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239000" y="40873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4419600" y="4087368"/>
            <a:ext cx="277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Store Analysis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4392168" y="4480560"/>
            <a:ext cx="334975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447032" y="4498848"/>
            <a:ext cx="3249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Stores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392168" y="4818888"/>
            <a:ext cx="334975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447032" y="4837176"/>
            <a:ext cx="3249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 Store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4392168" y="5157216"/>
            <a:ext cx="334975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447032" y="5175504"/>
            <a:ext cx="3249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Price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392168" y="5495544"/>
            <a:ext cx="334975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447032" y="5513832"/>
            <a:ext cx="3249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Avg Price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392168" y="5833872"/>
            <a:ext cx="334975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447032" y="5852160"/>
            <a:ext cx="3249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with Highest Price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4392168" y="6172200"/>
            <a:ext cx="334975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447032" y="6190488"/>
            <a:ext cx="3249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with Lowest Price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7970520" y="3977640"/>
            <a:ext cx="35966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7970520" y="3977640"/>
            <a:ext cx="3596640" cy="5486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927080" y="4087368"/>
            <a:ext cx="548640" cy="2377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927080" y="40873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8107680" y="4087368"/>
            <a:ext cx="277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Dashboard Helpers</a:t>
            </a:r>
            <a:endParaRPr lang="en-US" sz="1050" dirty="0"/>
          </a:p>
        </p:txBody>
      </p:sp>
      <p:sp>
        <p:nvSpPr>
          <p:cNvPr id="104" name="Shape 102"/>
          <p:cNvSpPr/>
          <p:nvPr/>
        </p:nvSpPr>
        <p:spPr>
          <a:xfrm>
            <a:off x="8080248" y="4480560"/>
            <a:ext cx="334975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135112" y="4498848"/>
            <a:ext cx="3249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Title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8080248" y="4818888"/>
            <a:ext cx="334975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135112" y="4837176"/>
            <a:ext cx="3249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Status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8080248" y="5157216"/>
            <a:ext cx="3349752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135112" y="5175504"/>
            <a:ext cx="3249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Margin Status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9555480" y="384048"/>
            <a:ext cx="20116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555480" y="384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total · 12 aliases (deprecated)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KEY FINDINGS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Profitability Snapshot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21214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63040"/>
            <a:ext cx="4572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554480"/>
            <a:ext cx="189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$452M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58952" y="2148840"/>
            <a:ext cx="1892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07208" y="1463040"/>
            <a:ext cx="21214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807208" y="1463040"/>
            <a:ext cx="45720" cy="1143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1554480"/>
            <a:ext cx="189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71800" y="2148840"/>
            <a:ext cx="1892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0056" y="1463040"/>
            <a:ext cx="21214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0056" y="1463040"/>
            <a:ext cx="45720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4648" y="1554480"/>
            <a:ext cx="189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28.8%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84648" y="2148840"/>
            <a:ext cx="1892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Margin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32904" y="1463040"/>
            <a:ext cx="21214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32904" y="1463040"/>
            <a:ext cx="45720" cy="1143000"/>
          </a:xfrm>
          <a:prstGeom prst="rect">
            <a:avLst/>
          </a:prstGeom>
          <a:solidFill>
            <a:srgbClr val="5B8C7E"/>
          </a:solidFill>
          <a:ln w="12700">
            <a:solidFill>
              <a:srgbClr val="5B8C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97496" y="1554480"/>
            <a:ext cx="189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$322M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97496" y="2148840"/>
            <a:ext cx="1892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445752" y="1463040"/>
            <a:ext cx="21214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445752" y="1463040"/>
            <a:ext cx="45720" cy="1143000"/>
          </a:xfrm>
          <a:prstGeom prst="rect">
            <a:avLst/>
          </a:prstGeom>
          <a:solidFill>
            <a:srgbClr val="7B2D26"/>
          </a:solidFill>
          <a:ln w="12700">
            <a:solidFill>
              <a:srgbClr val="7B2D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10344" y="1554480"/>
            <a:ext cx="189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$5.65M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610344" y="2148840"/>
            <a:ext cx="1892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Avg/Store</a:t>
            </a:r>
            <a:endParaRPr lang="en-US" sz="9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94360" y="2788920"/>
          <a:ext cx="7772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8595360" y="2788920"/>
            <a:ext cx="297180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0" y="2880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Peak Month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686800" y="32461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2016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8686800" y="374904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$49.7M revenue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$17.5M gross profit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595360" y="4617720"/>
            <a:ext cx="2971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8686800" y="47091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Split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686800" y="5166360"/>
            <a:ext cx="1828800" cy="347472"/>
          </a:xfrm>
          <a:prstGeom prst="rect">
            <a:avLst/>
          </a:prstGeom>
          <a:solidFill>
            <a:srgbClr val="7B2D26"/>
          </a:solidFill>
          <a:ln w="12700">
            <a:solidFill>
              <a:srgbClr val="7B2D2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686800" y="5166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 $290M (64%)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686800" y="5623560"/>
            <a:ext cx="1170432" cy="347472"/>
          </a:xfrm>
          <a:prstGeom prst="rect">
            <a:avLst/>
          </a:prstGeom>
          <a:solidFill>
            <a:srgbClr val="5B8C7E"/>
          </a:solidFill>
          <a:ln w="12700">
            <a:solidFill>
              <a:srgbClr val="5B8C7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686800" y="5623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Spirits  $162M (36%)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POWER BI DASHBOARD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report — Executive Overview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006840" y="502920"/>
            <a:ext cx="2560320" cy="384048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9006840" y="502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Click to open in Power BI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7315200" cy="5166360"/>
          </a:xfrm>
          <a:prstGeom prst="rect">
            <a:avLst/>
          </a:prstGeom>
          <a:solidFill>
            <a:srgbClr val="131A45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17320"/>
            <a:ext cx="7315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JustDrinks LTD — Executive Dashboard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536192"/>
            <a:ext cx="822960" cy="21945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5361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Sale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94360" y="1874520"/>
            <a:ext cx="7315200" cy="32918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1938528"/>
            <a:ext cx="173736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938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Month: All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697480" y="1938528"/>
            <a:ext cx="173736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938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All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17720" y="1938528"/>
            <a:ext cx="173736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938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 All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31520" y="2286000"/>
            <a:ext cx="1335024" cy="77724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286000"/>
            <a:ext cx="45720" cy="77724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340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$452M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27249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39696" y="2286000"/>
            <a:ext cx="1335024" cy="77724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39696" y="2286000"/>
            <a:ext cx="45720" cy="77724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31136" y="2340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231136" y="27249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547872" y="2286000"/>
            <a:ext cx="1335024" cy="77724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47872" y="2286000"/>
            <a:ext cx="45720" cy="77724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39312" y="2340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28.8%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639312" y="27249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Margin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956048" y="2286000"/>
            <a:ext cx="1335024" cy="77724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56048" y="2286000"/>
            <a:ext cx="45720" cy="77724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2340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047488" y="27249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364224" y="2286000"/>
            <a:ext cx="1335024" cy="77724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64224" y="2286000"/>
            <a:ext cx="45720" cy="77724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5664" y="2340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32.9M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455664" y="27249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750" dirty="0"/>
          </a:p>
        </p:txBody>
      </p:sp>
      <p:graphicFrame>
        <p:nvGraphicFramePr>
          <p:cNvPr id="38" name="Chart 0" descr=""/>
          <p:cNvGraphicFramePr/>
          <p:nvPr/>
        </p:nvGraphicFramePr>
        <p:xfrm>
          <a:off x="731520" y="3154680"/>
          <a:ext cx="466344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9" name="Chart 1" descr=""/>
          <p:cNvGraphicFramePr/>
          <p:nvPr/>
        </p:nvGraphicFramePr>
        <p:xfrm>
          <a:off x="5532120" y="3154680"/>
          <a:ext cx="224028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0" name="Shape 36"/>
          <p:cNvSpPr/>
          <p:nvPr/>
        </p:nvSpPr>
        <p:spPr>
          <a:xfrm>
            <a:off x="731520" y="4919472"/>
            <a:ext cx="7040880" cy="1691640"/>
          </a:xfrm>
          <a:prstGeom prst="rect">
            <a:avLst/>
          </a:prstGeom>
          <a:solidFill>
            <a:srgbClr val="131A45"/>
          </a:solidFill>
          <a:ln w="12700">
            <a:solidFill>
              <a:srgbClr val="2C3E8C"/>
            </a:solidFill>
            <a:prstDash val="solid"/>
          </a:ln>
        </p:spPr>
      </p:sp>
      <p:graphicFrame>
        <p:nvGraphicFramePr>
          <p:cNvPr id="41" name="Chart 2" descr=""/>
          <p:cNvGraphicFramePr/>
          <p:nvPr/>
        </p:nvGraphicFramePr>
        <p:xfrm>
          <a:off x="777240" y="4956048"/>
          <a:ext cx="329184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42" name="Chart 3" descr=""/>
          <p:cNvGraphicFramePr/>
          <p:nvPr/>
        </p:nvGraphicFramePr>
        <p:xfrm>
          <a:off x="4251960" y="4956048"/>
          <a:ext cx="356616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3" name="Shape 37"/>
          <p:cNvSpPr/>
          <p:nvPr/>
        </p:nvSpPr>
        <p:spPr>
          <a:xfrm>
            <a:off x="8092440" y="1481328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8092440" y="1481328"/>
            <a:ext cx="54864" cy="86868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1691640"/>
            <a:ext cx="320040" cy="32004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8641080" y="1572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numbers that matter</a:t>
            </a:r>
            <a:endParaRPr lang="en-US" sz="1200" dirty="0"/>
          </a:p>
        </p:txBody>
      </p:sp>
      <p:sp>
        <p:nvSpPr>
          <p:cNvPr id="47" name="Text 40"/>
          <p:cNvSpPr/>
          <p:nvPr/>
        </p:nvSpPr>
        <p:spPr>
          <a:xfrm>
            <a:off x="8641080" y="188366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profit, margin, stores, units sold — all on one screen, always up to date.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8092440" y="2505456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8092440" y="2505456"/>
            <a:ext cx="54864" cy="86868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2715768"/>
            <a:ext cx="320040" cy="320040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8641080" y="25968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every store instantly</a:t>
            </a:r>
            <a:endParaRPr lang="en-US" sz="1200" dirty="0"/>
          </a:p>
        </p:txBody>
      </p:sp>
      <p:sp>
        <p:nvSpPr>
          <p:cNvPr id="52" name="Text 44"/>
          <p:cNvSpPr/>
          <p:nvPr/>
        </p:nvSpPr>
        <p:spPr>
          <a:xfrm>
            <a:off x="8641080" y="290779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stores are leading and which need attention — filter down to any city in one click.</a:t>
            </a:r>
            <a:endParaRPr lang="en-US" sz="950" dirty="0"/>
          </a:p>
        </p:txBody>
      </p:sp>
      <p:sp>
        <p:nvSpPr>
          <p:cNvPr id="53" name="Shape 45"/>
          <p:cNvSpPr/>
          <p:nvPr/>
        </p:nvSpPr>
        <p:spPr>
          <a:xfrm>
            <a:off x="8092440" y="3529584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4" name="Shape 46"/>
          <p:cNvSpPr/>
          <p:nvPr/>
        </p:nvSpPr>
        <p:spPr>
          <a:xfrm>
            <a:off x="8092440" y="3529584"/>
            <a:ext cx="54864" cy="86868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pic>
        <p:nvPicPr>
          <p:cNvPr id="55" name="Image 2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3739896"/>
            <a:ext cx="320040" cy="320040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8641080" y="36210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best products</a:t>
            </a:r>
            <a:endParaRPr lang="en-US" sz="1200" dirty="0"/>
          </a:p>
        </p:txBody>
      </p:sp>
      <p:sp>
        <p:nvSpPr>
          <p:cNvPr id="57" name="Text 48"/>
          <p:cNvSpPr/>
          <p:nvPr/>
        </p:nvSpPr>
        <p:spPr>
          <a:xfrm>
            <a:off x="8641080" y="393192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Top-selling products by revenue ranked automatically — know what to stock more of.</a:t>
            </a:r>
            <a:endParaRPr lang="en-US" sz="950" dirty="0"/>
          </a:p>
        </p:txBody>
      </p:sp>
      <p:sp>
        <p:nvSpPr>
          <p:cNvPr id="58" name="Shape 49"/>
          <p:cNvSpPr/>
          <p:nvPr/>
        </p:nvSpPr>
        <p:spPr>
          <a:xfrm>
            <a:off x="8092440" y="4553712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9" name="Shape 50"/>
          <p:cNvSpPr/>
          <p:nvPr/>
        </p:nvSpPr>
        <p:spPr>
          <a:xfrm>
            <a:off x="8092440" y="4553712"/>
            <a:ext cx="54864" cy="86868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pic>
        <p:nvPicPr>
          <p:cNvPr id="60" name="Image 3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0" y="4764024"/>
            <a:ext cx="320040" cy="320040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8641080" y="46451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question, get the answer</a:t>
            </a:r>
            <a:endParaRPr lang="en-US" sz="1200" dirty="0"/>
          </a:p>
        </p:txBody>
      </p:sp>
      <p:sp>
        <p:nvSpPr>
          <p:cNvPr id="62" name="Text 52"/>
          <p:cNvSpPr/>
          <p:nvPr/>
        </p:nvSpPr>
        <p:spPr>
          <a:xfrm>
            <a:off x="8641080" y="495604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on any month, category or store and every number on the page updates to match.</a:t>
            </a:r>
            <a:endParaRPr lang="en-US" sz="950" dirty="0"/>
          </a:p>
        </p:txBody>
      </p:sp>
      <p:sp>
        <p:nvSpPr>
          <p:cNvPr id="63" name="Shape 53"/>
          <p:cNvSpPr/>
          <p:nvPr/>
        </p:nvSpPr>
        <p:spPr>
          <a:xfrm>
            <a:off x="8092440" y="5577840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4" name="Shape 54"/>
          <p:cNvSpPr/>
          <p:nvPr/>
        </p:nvSpPr>
        <p:spPr>
          <a:xfrm>
            <a:off x="8092440" y="5577840"/>
            <a:ext cx="54864" cy="86868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pic>
        <p:nvPicPr>
          <p:cNvPr id="65" name="Image 4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788152"/>
            <a:ext cx="320040" cy="320040"/>
          </a:xfrm>
          <a:prstGeom prst="rect">
            <a:avLst/>
          </a:prstGeom>
        </p:spPr>
      </p:pic>
      <p:sp>
        <p:nvSpPr>
          <p:cNvPr id="66" name="Text 55"/>
          <p:cNvSpPr/>
          <p:nvPr/>
        </p:nvSpPr>
        <p:spPr>
          <a:xfrm>
            <a:off x="8641080" y="5669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live — no manual reports</a:t>
            </a:r>
            <a:endParaRPr lang="en-US" sz="1200" dirty="0"/>
          </a:p>
        </p:txBody>
      </p:sp>
      <p:sp>
        <p:nvSpPr>
          <p:cNvPr id="67" name="Text 56"/>
          <p:cNvSpPr/>
          <p:nvPr/>
        </p:nvSpPr>
        <p:spPr>
          <a:xfrm>
            <a:off x="8641080" y="598017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online. Open it from anywhere. No spreadsheets, no waiting, no conflicting numbers.</a:t>
            </a:r>
            <a:endParaRPr lang="en-US" sz="950" dirty="0"/>
          </a:p>
        </p:txBody>
      </p:sp>
      <p:sp>
        <p:nvSpPr>
          <p:cNvPr id="68" name="Shape 57"/>
          <p:cNvSpPr/>
          <p:nvPr/>
        </p:nvSpPr>
        <p:spPr>
          <a:xfrm>
            <a:off x="8092440" y="6492240"/>
            <a:ext cx="374904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9" name="Text 58">
            <a:hlinkClick r:id="rId11" tooltip=""/>
          </p:cNvPr>
          <p:cNvSpPr/>
          <p:nvPr/>
        </p:nvSpPr>
        <p:spPr>
          <a:xfrm>
            <a:off x="8092440" y="6492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📊  Click to open the live dashboard →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WEB ANALYTICS APP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runs in any browser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006840" y="502920"/>
            <a:ext cx="25603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9006840" y="502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Open Web App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7315200" cy="516636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17320"/>
            <a:ext cx="7315200" cy="34747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1554480"/>
            <a:ext cx="118872" cy="1188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1554480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" y="1554480"/>
            <a:ext cx="118872" cy="1188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8760" y="1499616"/>
            <a:ext cx="50292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149961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JustDrinks_Dashboard_1.html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" y="1764792"/>
            <a:ext cx="1463040" cy="4818888"/>
          </a:xfrm>
          <a:prstGeom prst="rect">
            <a:avLst/>
          </a:prstGeom>
          <a:solidFill>
            <a:srgbClr val="131A45"/>
          </a:solidFill>
          <a:ln w="12700">
            <a:solidFill>
              <a:srgbClr val="131A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1874520"/>
            <a:ext cx="292608" cy="29260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18745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JustDrinks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5800" y="2487168"/>
            <a:ext cx="1280160" cy="36576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52374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58952" y="29992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Add Tx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58952" y="34747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Settings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1520" y="64008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Light Mode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194560" y="1810512"/>
            <a:ext cx="1325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194560" y="1810512"/>
            <a:ext cx="4572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186537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$452M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286000" y="22494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11880" y="1810512"/>
            <a:ext cx="1325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11880" y="1810512"/>
            <a:ext cx="4572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186537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$130M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703320" y="22494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029200" y="1810512"/>
            <a:ext cx="1325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0" y="1810512"/>
            <a:ext cx="4572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186537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120640" y="22494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446520" y="1810512"/>
            <a:ext cx="1325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46520" y="1810512"/>
            <a:ext cx="4572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186537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28.8%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537960" y="22494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Margin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670048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graphicFrame>
        <p:nvGraphicFramePr>
          <p:cNvPr id="39" name="Chart 0" descr=""/>
          <p:cNvGraphicFramePr/>
          <p:nvPr/>
        </p:nvGraphicFramePr>
        <p:xfrm>
          <a:off x="2221992" y="2697480"/>
          <a:ext cx="4151376" cy="16367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0" name="Shape 37"/>
          <p:cNvSpPr/>
          <p:nvPr/>
        </p:nvSpPr>
        <p:spPr>
          <a:xfrm>
            <a:off x="6537960" y="2670048"/>
            <a:ext cx="1234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graphicFrame>
        <p:nvGraphicFramePr>
          <p:cNvPr id="41" name="Chart 1" descr=""/>
          <p:cNvGraphicFramePr/>
          <p:nvPr/>
        </p:nvGraphicFramePr>
        <p:xfrm>
          <a:off x="6556248" y="2697480"/>
          <a:ext cx="1197864" cy="16367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2" name="Shape 38"/>
          <p:cNvSpPr/>
          <p:nvPr/>
        </p:nvSpPr>
        <p:spPr>
          <a:xfrm>
            <a:off x="2194560" y="4480560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Text 39"/>
          <p:cNvSpPr/>
          <p:nvPr/>
        </p:nvSpPr>
        <p:spPr>
          <a:xfrm>
            <a:off x="2377440" y="4572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Revenue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2194560" y="4892040"/>
            <a:ext cx="557784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2286000" y="490118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                                         Revenue     GP%      Units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2194560" y="5166360"/>
            <a:ext cx="5577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2286000" y="518464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Daniels No 7 Black           $7.96M           26.9%           334,824</a:t>
            </a:r>
            <a:endParaRPr lang="en-US" sz="750" dirty="0"/>
          </a:p>
        </p:txBody>
      </p:sp>
      <p:sp>
        <p:nvSpPr>
          <p:cNvPr id="48" name="Shape 44"/>
          <p:cNvSpPr/>
          <p:nvPr/>
        </p:nvSpPr>
        <p:spPr>
          <a:xfrm>
            <a:off x="2194560" y="5495544"/>
            <a:ext cx="557784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2286000" y="551383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Tito's Handmade Vodka           $7.40M           24.1%           358,288</a:t>
            </a:r>
            <a:endParaRPr lang="en-US" sz="750" dirty="0"/>
          </a:p>
        </p:txBody>
      </p:sp>
      <p:sp>
        <p:nvSpPr>
          <p:cNvPr id="50" name="Shape 46"/>
          <p:cNvSpPr/>
          <p:nvPr/>
        </p:nvSpPr>
        <p:spPr>
          <a:xfrm>
            <a:off x="8092440" y="1481328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7"/>
          <p:cNvSpPr/>
          <p:nvPr/>
        </p:nvSpPr>
        <p:spPr>
          <a:xfrm>
            <a:off x="8092440" y="1481328"/>
            <a:ext cx="54864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2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691640"/>
            <a:ext cx="320040" cy="320040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8641080" y="1572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Install</a:t>
            </a:r>
            <a:endParaRPr lang="en-US" sz="1200" dirty="0"/>
          </a:p>
        </p:txBody>
      </p:sp>
      <p:sp>
        <p:nvSpPr>
          <p:cNvPr id="54" name="Text 49"/>
          <p:cNvSpPr/>
          <p:nvPr/>
        </p:nvSpPr>
        <p:spPr>
          <a:xfrm>
            <a:off x="8641080" y="188366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JustDrinks_Dashboard_1.html — double-click to open. No server or setup needed.</a:t>
            </a:r>
            <a:endParaRPr lang="en-US" sz="950" dirty="0"/>
          </a:p>
        </p:txBody>
      </p:sp>
      <p:sp>
        <p:nvSpPr>
          <p:cNvPr id="55" name="Shape 50"/>
          <p:cNvSpPr/>
          <p:nvPr/>
        </p:nvSpPr>
        <p:spPr>
          <a:xfrm>
            <a:off x="8092440" y="2505456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1"/>
          <p:cNvSpPr/>
          <p:nvPr/>
        </p:nvSpPr>
        <p:spPr>
          <a:xfrm>
            <a:off x="8092440" y="2505456"/>
            <a:ext cx="54864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7" name="Image 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2715768"/>
            <a:ext cx="320040" cy="320040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8641080" y="25968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Interactive Charts</a:t>
            </a:r>
            <a:endParaRPr lang="en-US" sz="1200" dirty="0"/>
          </a:p>
        </p:txBody>
      </p:sp>
      <p:sp>
        <p:nvSpPr>
          <p:cNvPr id="59" name="Text 53"/>
          <p:cNvSpPr/>
          <p:nvPr/>
        </p:nvSpPr>
        <p:spPr>
          <a:xfrm>
            <a:off x="8641080" y="290779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bar, donut slice or bubble to cross-filter all other visuals instantly.</a:t>
            </a:r>
            <a:endParaRPr lang="en-US" sz="950" dirty="0"/>
          </a:p>
        </p:txBody>
      </p:sp>
      <p:sp>
        <p:nvSpPr>
          <p:cNvPr id="60" name="Shape 54"/>
          <p:cNvSpPr/>
          <p:nvPr/>
        </p:nvSpPr>
        <p:spPr>
          <a:xfrm>
            <a:off x="8092440" y="3529584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1" name="Shape 55"/>
          <p:cNvSpPr/>
          <p:nvPr/>
        </p:nvSpPr>
        <p:spPr>
          <a:xfrm>
            <a:off x="8092440" y="3529584"/>
            <a:ext cx="54864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2" name="Image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3739896"/>
            <a:ext cx="320040" cy="320040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8641080" y="36210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Transactions</a:t>
            </a:r>
            <a:endParaRPr lang="en-US" sz="1200" dirty="0"/>
          </a:p>
        </p:txBody>
      </p:sp>
      <p:sp>
        <p:nvSpPr>
          <p:cNvPr id="64" name="Text 57"/>
          <p:cNvSpPr/>
          <p:nvPr/>
        </p:nvSpPr>
        <p:spPr>
          <a:xfrm>
            <a:off x="8641080" y="393192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 sales — KPIs and all charts update immediately. Bulk add or 60-day demo.</a:t>
            </a:r>
            <a:endParaRPr lang="en-US" sz="950" dirty="0"/>
          </a:p>
        </p:txBody>
      </p:sp>
      <p:sp>
        <p:nvSpPr>
          <p:cNvPr id="65" name="Shape 58"/>
          <p:cNvSpPr/>
          <p:nvPr/>
        </p:nvSpPr>
        <p:spPr>
          <a:xfrm>
            <a:off x="8092440" y="4553712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6" name="Shape 59"/>
          <p:cNvSpPr/>
          <p:nvPr/>
        </p:nvSpPr>
        <p:spPr>
          <a:xfrm>
            <a:off x="8092440" y="4553712"/>
            <a:ext cx="54864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4764024"/>
            <a:ext cx="320040" cy="320040"/>
          </a:xfrm>
          <a:prstGeom prst="rect">
            <a:avLst/>
          </a:prstGeom>
        </p:spPr>
      </p:pic>
      <p:sp>
        <p:nvSpPr>
          <p:cNvPr id="68" name="Text 60"/>
          <p:cNvSpPr/>
          <p:nvPr/>
        </p:nvSpPr>
        <p:spPr>
          <a:xfrm>
            <a:off x="8641080" y="46451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</a:t>
            </a:r>
            <a:endParaRPr lang="en-US" sz="1200" dirty="0"/>
          </a:p>
        </p:txBody>
      </p:sp>
      <p:sp>
        <p:nvSpPr>
          <p:cNvPr id="69" name="Text 61"/>
          <p:cNvSpPr/>
          <p:nvPr/>
        </p:nvSpPr>
        <p:spPr>
          <a:xfrm>
            <a:off x="8641080" y="495604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on desktop · Bottom nav bar on mobile · Dark mode · 5 accent colours.</a:t>
            </a:r>
            <a:endParaRPr lang="en-US" sz="950" dirty="0"/>
          </a:p>
        </p:txBody>
      </p:sp>
      <p:sp>
        <p:nvSpPr>
          <p:cNvPr id="70" name="Shape 62"/>
          <p:cNvSpPr/>
          <p:nvPr/>
        </p:nvSpPr>
        <p:spPr>
          <a:xfrm>
            <a:off x="8092440" y="5577840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1" name="Shape 63"/>
          <p:cNvSpPr/>
          <p:nvPr/>
        </p:nvSpPr>
        <p:spPr>
          <a:xfrm>
            <a:off x="8092440" y="5577840"/>
            <a:ext cx="54864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2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5788152"/>
            <a:ext cx="320040" cy="320040"/>
          </a:xfrm>
          <a:prstGeom prst="rect">
            <a:avLst/>
          </a:prstGeom>
        </p:spPr>
      </p:pic>
      <p:sp>
        <p:nvSpPr>
          <p:cNvPr id="73" name="Text 64"/>
          <p:cNvSpPr/>
          <p:nvPr/>
        </p:nvSpPr>
        <p:spPr>
          <a:xfrm>
            <a:off x="8641080" y="5669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200" dirty="0"/>
          </a:p>
        </p:txBody>
      </p:sp>
      <p:sp>
        <p:nvSpPr>
          <p:cNvPr id="74" name="Text 65"/>
          <p:cNvSpPr/>
          <p:nvPr/>
        </p:nvSpPr>
        <p:spPr>
          <a:xfrm>
            <a:off x="8641080" y="598017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persist across page refreshes. Export as CSV from Settings.</a:t>
            </a:r>
            <a:endParaRPr lang="en-US" sz="950" dirty="0"/>
          </a:p>
        </p:txBody>
      </p:sp>
      <p:sp>
        <p:nvSpPr>
          <p:cNvPr id="75" name="Shape 66"/>
          <p:cNvSpPr/>
          <p:nvPr/>
        </p:nvSpPr>
        <p:spPr>
          <a:xfrm>
            <a:off x="8092440" y="6492240"/>
            <a:ext cx="3749040" cy="25603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76" name="Text 67">
            <a:hlinkClick r:id="rId9" tooltip=""/>
          </p:cNvPr>
          <p:cNvSpPr/>
          <p:nvPr/>
        </p:nvSpPr>
        <p:spPr>
          <a:xfrm>
            <a:off x="8092440" y="6492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Open Web Dashboard →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RECOMMENDATIONS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actions to grow JustDrinks LTD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5349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81328"/>
            <a:ext cx="53492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6184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July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July's $49.7M is 36% above the monthly average. Analyse what drove it and replicate in Q2/Q3 each year.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1618488"/>
            <a:ext cx="164592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6184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17920" y="1481328"/>
            <a:ext cx="5349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481328"/>
            <a:ext cx="53492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03720" y="16184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October GP compression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0" y="21031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GP collapsed to 12.6% — worst month. Renegotiate purchase terms or adjust pricing to protect margin.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738360" y="1618488"/>
            <a:ext cx="164592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38360" y="16184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Protection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3218688"/>
            <a:ext cx="5349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218688"/>
            <a:ext cx="53492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335584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away from Diageo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7240" y="38404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Diageo = $51M (15.8%) of all purchases. Develop 2-3 alternatives for top SKUs to reduce single-supplier risk.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0" y="3355848"/>
            <a:ext cx="164592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33558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Risk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18688"/>
            <a:ext cx="5349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3218688"/>
            <a:ext cx="534924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03720" y="335584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Doncaster model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00800" y="38404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73 &amp; 76 generate $47.2M at 31%+ GP. Study their approach and apply to underperforming stores.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738360" y="3355848"/>
            <a:ext cx="16459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38360" y="33558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Operations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4360" y="4956048"/>
            <a:ext cx="5349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4360" y="4956048"/>
            <a:ext cx="5349240" cy="54864"/>
          </a:xfrm>
          <a:prstGeom prst="rect">
            <a:avLst/>
          </a:prstGeom>
          <a:solidFill>
            <a:srgbClr val="5B8C7E"/>
          </a:solidFill>
          <a:ln w="12700">
            <a:solidFill>
              <a:srgbClr val="5B8C7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280160" y="50932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pricing engine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77240" y="55778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 day avg shelf time is good overall but outliers sit far longer. Dynamic markdown pricing would improve ROI.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114800" y="5093208"/>
            <a:ext cx="1645920" cy="292608"/>
          </a:xfrm>
          <a:prstGeom prst="rect">
            <a:avLst/>
          </a:prstGeom>
          <a:solidFill>
            <a:srgbClr val="5B8C7E"/>
          </a:solidFill>
          <a:ln w="12700">
            <a:solidFill>
              <a:srgbClr val="5B8C7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0" y="50932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Efficiency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17920" y="4956048"/>
            <a:ext cx="5349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4956048"/>
            <a:ext cx="5349240" cy="54864"/>
          </a:xfrm>
          <a:prstGeom prst="rect">
            <a:avLst/>
          </a:prstGeom>
          <a:solidFill>
            <a:srgbClr val="D4853A"/>
          </a:solidFill>
          <a:ln w="12700">
            <a:solidFill>
              <a:srgbClr val="D485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903720" y="50932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analytics platform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400800" y="55778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DimVendor, DimInventoryItem, RLS roles. Connect web app to a live API for real-time store monitoring.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738360" y="5093208"/>
            <a:ext cx="1645920" cy="292608"/>
          </a:xfrm>
          <a:prstGeom prst="rect">
            <a:avLst/>
          </a:prstGeom>
          <a:solidFill>
            <a:srgbClr val="D4853A"/>
          </a:solidFill>
          <a:ln w="12700">
            <a:solidFill>
              <a:srgbClr val="D485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38360" y="50932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Roadmap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54864" cy="685800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JUSTDRINKS LTD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Bih Brandy Sango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328416"/>
            <a:ext cx="201168" cy="20116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91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Tables in Model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986784"/>
            <a:ext cx="201168" cy="20116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502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 DAX Measures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645152"/>
            <a:ext cx="201168" cy="20116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6085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 Relationships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5303520"/>
            <a:ext cx="201168" cy="20116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2669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/ 74%  Maturity Grade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5870448"/>
            <a:ext cx="1737360" cy="2743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6" name="Text 14">
            <a:hlinkClick r:id="rId1" tooltip=""/>
          </p:cNvPr>
          <p:cNvSpPr/>
          <p:nvPr/>
        </p:nvSpPr>
        <p:spPr>
          <a:xfrm>
            <a:off x="502920" y="5870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📊 Power BI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31720" y="5870448"/>
            <a:ext cx="1737360" cy="27432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8" name="Text 16">
            <a:hlinkClick r:id="rId2" tooltip=""/>
          </p:cNvPr>
          <p:cNvSpPr/>
          <p:nvPr/>
        </p:nvSpPr>
        <p:spPr>
          <a:xfrm>
            <a:off x="2331720" y="5870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Web App</a:t>
            </a:r>
            <a:endParaRPr lang="en-US" sz="900" dirty="0"/>
          </a:p>
        </p:txBody>
      </p:sp>
      <p:sp>
        <p:nvSpPr>
          <p:cNvPr id="19" name="Text 17">
            <a:hlinkClick r:id="rId3" tooltip=""/>
          </p:cNvPr>
          <p:cNvSpPr/>
          <p:nvPr/>
        </p:nvSpPr>
        <p:spPr>
          <a:xfrm>
            <a:off x="502920" y="6446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u="sng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https://github.com/bihbrandysango-cloud/justdrinks-ltd-analysis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846320" y="7315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800" dirty="0"/>
          </a:p>
        </p:txBody>
      </p:sp>
      <p:sp>
        <p:nvSpPr>
          <p:cNvPr id="21" name="Text 19"/>
          <p:cNvSpPr/>
          <p:nvPr/>
        </p:nvSpPr>
        <p:spPr>
          <a:xfrm>
            <a:off x="4846320" y="171907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846320" y="2423160"/>
            <a:ext cx="6858000" cy="96012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679192"/>
            <a:ext cx="384048" cy="38404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577840" y="25603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Power BI model · 54 DAX measures · 15 tables · 25 relationships — all built from scratch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0" y="3566160"/>
            <a:ext cx="6858000" cy="96012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822192"/>
            <a:ext cx="384048" cy="38404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577840" y="37033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dashboard with cross-filtering, dark mode, live transactions — open in any browser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846320" y="4709160"/>
            <a:ext cx="6858000" cy="96012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4965192"/>
            <a:ext cx="384048" cy="38404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577840" y="48463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insights: fix October margins, scale Doncaster stores, diversify beyond Diageo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JustDrinks LTD — Analytics Pitch Deck</dc:title>
  <dc:subject>PptxGenJS Presentation</dc:subject>
  <dc:creator>Bih Brandy Sango</dc:creator>
  <cp:lastModifiedBy>Bih Brandy Sango</cp:lastModifiedBy>
  <cp:revision>1</cp:revision>
  <dcterms:created xsi:type="dcterms:W3CDTF">2026-05-13T09:37:12Z</dcterms:created>
  <dcterms:modified xsi:type="dcterms:W3CDTF">2026-05-13T09:37:12Z</dcterms:modified>
</cp:coreProperties>
</file>